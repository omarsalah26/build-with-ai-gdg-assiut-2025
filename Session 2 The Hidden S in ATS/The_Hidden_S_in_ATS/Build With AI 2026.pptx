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veat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IBM Plex Mono Light"/>
      <p:regular r:id="rId21"/>
      <p:bold r:id="rId22"/>
      <p:italic r:id="rId23"/>
      <p:boldItalic r:id="rId24"/>
    </p:embeddedFont>
    <p:embeddedFont>
      <p:font typeface="IBM Plex Mono ExtraLight"/>
      <p:regular r:id="rId25"/>
      <p:bold r:id="rId26"/>
      <p:italic r:id="rId27"/>
      <p:boldItalic r:id="rId28"/>
    </p:embeddedFont>
    <p:embeddedFont>
      <p:font typeface="IBM Plex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IBMPlexMonoLight-bold.fntdata"/><Relationship Id="rId21" Type="http://schemas.openxmlformats.org/officeDocument/2006/relationships/font" Target="fonts/IBMPlexMonoLight-regular.fntdata"/><Relationship Id="rId24" Type="http://schemas.openxmlformats.org/officeDocument/2006/relationships/font" Target="fonts/IBMPlexMonoLight-boldItalic.fntdata"/><Relationship Id="rId23" Type="http://schemas.openxmlformats.org/officeDocument/2006/relationships/font" Target="fonts/IBMPlexMono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ExtraLight-bold.fntdata"/><Relationship Id="rId25" Type="http://schemas.openxmlformats.org/officeDocument/2006/relationships/font" Target="fonts/IBMPlexMonoExtraLight-regular.fntdata"/><Relationship Id="rId28" Type="http://schemas.openxmlformats.org/officeDocument/2006/relationships/font" Target="fonts/IBMPlexMonoExtraLight-boldItalic.fntdata"/><Relationship Id="rId27" Type="http://schemas.openxmlformats.org/officeDocument/2006/relationships/font" Target="fonts/IBMPlexMonoExtra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Mono-italic.fntdata"/><Relationship Id="rId30" Type="http://schemas.openxmlformats.org/officeDocument/2006/relationships/font" Target="fonts/IBMPlex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BMPlex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Caveat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Caveat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db04d72056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db04d72056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db04d72056_0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db04d72056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b04d72056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b04d72056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b04d72056_0_4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db04d72056_0_4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db935d956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db935d95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db04d72056_0_122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db04d72056_0_101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db935d9561_1_21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b04d72056_0_14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db04d72056_0_14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5;p4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5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5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2;p5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5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4;p5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5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" name="Google Shape;26;p5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5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" name="Google Shape;28;p5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5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4" name="Google Shape;34;p5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6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6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6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6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5" name="Google Shape;75;p7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2" name="Google Shape;82;p8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90" name="Google Shape;90;p9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9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9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9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4" name="Google Shape;94;p9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5" name="Google Shape;95;p9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9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4" name="Google Shape;104;p10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" name="Google Shape;109;p10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2" name="Google Shape;112;p1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0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116" name="Google Shape;116;p11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22" name="Google Shape;122;p11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23" name="Google Shape;123;p11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1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1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1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28" name="Google Shape;128;p11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9" name="Google Shape;129;p11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30" name="Google Shape;130;p11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1" name="Google Shape;131;p11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32" name="Google Shape;132;p11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1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1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1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0" name="Google Shape;140;p12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1" name="Google Shape;141;p12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3" name="Google Shape;143;p12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4" name="Google Shape;144;p12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6" name="Google Shape;146;p12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47" name="Google Shape;147;p12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8" name="Google Shape;148;p12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9" name="Google Shape;149;p12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0" name="Google Shape;150;p12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1" name="Google Shape;151;p12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2" name="Google Shape;152;p12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56" name="Google Shape;156;p12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12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1" name="Google Shape;161;p13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2" name="Google Shape;162;p13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" name="Google Shape;163;p13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4" name="Google Shape;164;p13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3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8" name="Google Shape;168;p13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13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0" name="Google Shape;170;p13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1" name="Google Shape;171;p13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" name="Google Shape;172;p13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3" name="Google Shape;173;p13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7" name="Google Shape;177;p13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13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0" name="Google Shape;180;p13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13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13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4" name="Google Shape;184;p13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6" name="Google Shape;186;p13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13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3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4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1" name="Google Shape;211;p14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13" name="Google Shape;213;p14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4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0" name="Google Shape;220;p14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1" name="Google Shape;221;p14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4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5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3" name="Google Shape;243;p15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44" name="Google Shape;244;p15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45" name="Google Shape;245;p15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15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16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73" name="Google Shape;273;p16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74" name="Google Shape;274;p16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75" name="Google Shape;275;p16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76" name="Google Shape;276;p16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7" name="Google Shape;277;p16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8" name="Google Shape;278;p16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9" name="Google Shape;279;p16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0" name="Google Shape;280;p16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1" name="Google Shape;281;p1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16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286" name="Google Shape;286;p17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7" name="Google Shape;287;p17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8" name="Google Shape;288;p17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9" name="Google Shape;289;p1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17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18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17" name="Google Shape;317;p18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18" name="Google Shape;318;p18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19" name="Google Shape;319;p18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0" name="Google Shape;320;p18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1" name="Google Shape;321;p18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2" name="Google Shape;322;p18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3" name="Google Shape;323;p1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18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9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3" name="Google Shape;343;p19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4" name="Google Shape;344;p19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45" name="Google Shape;345;p19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46" name="Google Shape;346;p19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47" name="Google Shape;347;p1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19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0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20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377" name="Google Shape;377;p21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2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3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06" name="Google Shape;406;p2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23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4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6" name="Google Shape;426;p24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27" name="Google Shape;427;p2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4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6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49" name="Google Shape;449;p26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50" name="Google Shape;450;p26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29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72" name="Google Shape;472;p29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30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0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7" name="Google Shape;477;p30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30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0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30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" name="Google Shape;481;p30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0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30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30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0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6" name="Google Shape;486;p30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7" name="Google Shape;487;p30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8" name="Google Shape;488;p30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9" name="Google Shape;489;p30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0" name="Google Shape;490;p30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491" name="Google Shape;491;p30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30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0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31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7" name="Google Shape;497;p31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2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6" name="Google Shape;516;p32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17" name="Google Shape;517;p3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2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9" name="Google Shape;519;p32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20" name="Google Shape;520;p32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44" name="Google Shape;544;p33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5" name="Google Shape;545;p33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6" name="Google Shape;546;p33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47" name="Google Shape;547;p33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48" name="Google Shape;548;p33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49" name="Google Shape;549;p33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4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71" name="Google Shape;571;p34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2" name="Google Shape;572;p34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3" name="Google Shape;573;p34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4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7" name="Google Shape;577;p34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8" name="Google Shape;578;p34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9" name="Google Shape;579;p34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0" name="Google Shape;580;p34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1" name="Google Shape;581;p34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5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3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3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5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5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02" name="Google Shape;602;p35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03" name="Google Shape;603;p35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06" name="Google Shape;606;p35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3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6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29" name="Google Shape;629;p36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30" name="Google Shape;630;p36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31" name="Google Shape;631;p36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32" name="Google Shape;632;p36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4" name="Google Shape;634;p36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35" name="Google Shape;635;p36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36" name="Google Shape;636;p36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6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8" name="Google Shape;638;p36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39" name="Google Shape;639;p36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7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7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7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8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91" name="Google Shape;691;p38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2" name="Google Shape;692;p38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3" name="Google Shape;693;p38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4" name="Google Shape;694;p38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5" name="Google Shape;695;p38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6" name="Google Shape;696;p38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7" name="Google Shape;697;p38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8" name="Google Shape;698;p38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99" name="Google Shape;699;p38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Introduction (g3db04d72056_7_0)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9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702" name="Google Shape;702;p3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3" name="Google Shape;703;p39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04" name="Google Shape;704;p39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Table of Contents (g3db04d72056_14_0)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0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07" name="Google Shape;707;p40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8" name="Google Shape;708;p40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09" name="Google Shape;709;p40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10" name="Google Shape;710;p40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11" name="Google Shape;711;p40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12" name="Google Shape;712;p40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13" name="Google Shape;713;p40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40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0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6" name="Google Shape;716;p40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7" name="Google Shape;717;p40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1"/>
          <p:cNvSpPr txBox="1"/>
          <p:nvPr>
            <p:ph type="title"/>
          </p:nvPr>
        </p:nvSpPr>
        <p:spPr>
          <a:xfrm>
            <a:off x="250500" y="801575"/>
            <a:ext cx="88392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The Hidden “S” In ATS</a:t>
            </a:r>
            <a:endParaRPr sz="8500"/>
          </a:p>
        </p:txBody>
      </p:sp>
      <p:sp>
        <p:nvSpPr>
          <p:cNvPr id="723" name="Google Shape;723;p41"/>
          <p:cNvSpPr/>
          <p:nvPr/>
        </p:nvSpPr>
        <p:spPr>
          <a:xfrm>
            <a:off x="2895725" y="2681500"/>
            <a:ext cx="3767400" cy="39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rPr>
              <a:t>Eng</a:t>
            </a:r>
            <a:r>
              <a:rPr lang="en" sz="48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rPr>
              <a:t>. H</a:t>
            </a:r>
            <a:r>
              <a:rPr lang="en" sz="48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rPr>
              <a:t>ussein Ali</a:t>
            </a:r>
            <a:endParaRPr sz="4800">
              <a:solidFill>
                <a:schemeClr val="lt2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2"/>
          <p:cNvSpPr txBox="1"/>
          <p:nvPr/>
        </p:nvSpPr>
        <p:spPr>
          <a:xfrm>
            <a:off x="381000" y="28575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Table of Contents</a:t>
            </a:r>
            <a:endParaRPr sz="612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729" name="Google Shape;729;p42"/>
          <p:cNvGrpSpPr/>
          <p:nvPr/>
        </p:nvGrpSpPr>
        <p:grpSpPr>
          <a:xfrm>
            <a:off x="381000" y="1333500"/>
            <a:ext cx="8381925" cy="3429000"/>
            <a:chOff x="381000" y="1333500"/>
            <a:chExt cx="8381925" cy="3429000"/>
          </a:xfrm>
        </p:grpSpPr>
        <p:sp>
          <p:nvSpPr>
            <p:cNvPr id="730" name="Google Shape;730;p42"/>
            <p:cNvSpPr/>
            <p:nvPr/>
          </p:nvSpPr>
          <p:spPr>
            <a:xfrm>
              <a:off x="381000" y="133350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9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2"/>
            <p:cNvSpPr txBox="1"/>
            <p:nvPr/>
          </p:nvSpPr>
          <p:spPr>
            <a:xfrm>
              <a:off x="523875" y="13335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Introduction</a:t>
              </a:r>
              <a:endParaRPr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32" name="Google Shape;732;p42"/>
            <p:cNvSpPr txBox="1"/>
            <p:nvPr/>
          </p:nvSpPr>
          <p:spPr>
            <a:xfrm>
              <a:off x="4619625" y="1333500"/>
              <a:ext cx="414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What is ATS Atually means?</a:t>
              </a:r>
              <a:endParaRPr sz="12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33" name="Google Shape;733;p42"/>
            <p:cNvSpPr/>
            <p:nvPr/>
          </p:nvSpPr>
          <p:spPr>
            <a:xfrm>
              <a:off x="381000" y="2047875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B1C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2"/>
            <p:cNvSpPr txBox="1"/>
            <p:nvPr/>
          </p:nvSpPr>
          <p:spPr>
            <a:xfrm>
              <a:off x="523875" y="2047875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B1C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Setup and Integeration</a:t>
              </a:r>
              <a:endParaRPr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35" name="Google Shape;735;p42"/>
            <p:cNvSpPr txBox="1"/>
            <p:nvPr/>
          </p:nvSpPr>
          <p:spPr>
            <a:xfrm>
              <a:off x="4619625" y="2047875"/>
              <a:ext cx="414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How to get API Key from Google AI Studio?</a:t>
              </a:r>
              <a:endParaRPr sz="12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36" name="Google Shape;736;p42"/>
            <p:cNvSpPr/>
            <p:nvPr/>
          </p:nvSpPr>
          <p:spPr>
            <a:xfrm>
              <a:off x="381000" y="276225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CA36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2"/>
            <p:cNvSpPr txBox="1"/>
            <p:nvPr/>
          </p:nvSpPr>
          <p:spPr>
            <a:xfrm>
              <a:off x="523875" y="276225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CA361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SDD (Spec Driven Desing)</a:t>
              </a:r>
              <a:endParaRPr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38" name="Google Shape;738;p42"/>
            <p:cNvSpPr txBox="1"/>
            <p:nvPr/>
          </p:nvSpPr>
          <p:spPr>
            <a:xfrm>
              <a:off x="4619625" y="2762250"/>
              <a:ext cx="414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Mono"/>
                  <a:ea typeface="IBM Plex Mono"/>
                  <a:cs typeface="IBM Plex Mono"/>
                  <a:sym typeface="IBM Plex Mono"/>
                </a:rPr>
                <a:t>What is it and how it works?</a:t>
              </a:r>
              <a:endParaRPr sz="12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39" name="Google Shape;739;p42"/>
            <p:cNvSpPr/>
            <p:nvPr/>
          </p:nvSpPr>
          <p:spPr>
            <a:xfrm>
              <a:off x="381000" y="3476625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2A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2"/>
            <p:cNvSpPr txBox="1"/>
            <p:nvPr/>
          </p:nvSpPr>
          <p:spPr>
            <a:xfrm>
              <a:off x="523875" y="3476625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2AB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Maximizing Antigravity</a:t>
              </a:r>
              <a:endParaRPr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41" name="Google Shape;741;p42"/>
            <p:cNvSpPr txBox="1"/>
            <p:nvPr/>
          </p:nvSpPr>
          <p:spPr>
            <a:xfrm>
              <a:off x="4619625" y="3476625"/>
              <a:ext cx="414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Mono"/>
                  <a:ea typeface="IBM Plex Mono"/>
                  <a:cs typeface="IBM Plex Mono"/>
                  <a:sym typeface="IBM Plex Mono"/>
                </a:rPr>
                <a:t>How to get the best of Antigravity?</a:t>
              </a:r>
              <a:endParaRPr sz="1200"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42" name="Google Shape;742;p42"/>
            <p:cNvSpPr/>
            <p:nvPr/>
          </p:nvSpPr>
          <p:spPr>
            <a:xfrm>
              <a:off x="381000" y="4191000"/>
              <a:ext cx="4095900" cy="5715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56B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2"/>
            <p:cNvSpPr txBox="1"/>
            <p:nvPr/>
          </p:nvSpPr>
          <p:spPr>
            <a:xfrm>
              <a:off x="523875" y="41910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56BB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CLOSING</a:t>
              </a:r>
              <a:endParaRPr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44" name="Google Shape;744;p42"/>
            <p:cNvSpPr txBox="1"/>
            <p:nvPr/>
          </p:nvSpPr>
          <p:spPr>
            <a:xfrm>
              <a:off x="4619625" y="4191000"/>
              <a:ext cx="414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Q&amp;A</a:t>
              </a:r>
              <a:endParaRPr sz="12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"/>
          <p:cNvSpPr txBox="1"/>
          <p:nvPr>
            <p:ph type="title"/>
          </p:nvPr>
        </p:nvSpPr>
        <p:spPr>
          <a:xfrm>
            <a:off x="381000" y="285750"/>
            <a:ext cx="838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Introduction</a:t>
            </a:r>
            <a:endParaRPr sz="612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50" name="Google Shape;750;p43"/>
          <p:cNvSpPr txBox="1"/>
          <p:nvPr>
            <p:ph idx="4294967295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51" name="Google Shape;751;p43"/>
          <p:cNvGrpSpPr/>
          <p:nvPr/>
        </p:nvGrpSpPr>
        <p:grpSpPr>
          <a:xfrm>
            <a:off x="381000" y="1333500"/>
            <a:ext cx="8382150" cy="3238500"/>
            <a:chOff x="381000" y="1333500"/>
            <a:chExt cx="8382150" cy="3238500"/>
          </a:xfrm>
        </p:grpSpPr>
        <p:sp>
          <p:nvSpPr>
            <p:cNvPr id="752" name="Google Shape;752;p43"/>
            <p:cNvSpPr/>
            <p:nvPr/>
          </p:nvSpPr>
          <p:spPr>
            <a:xfrm>
              <a:off x="381000" y="133350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9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3"/>
            <p:cNvSpPr txBox="1"/>
            <p:nvPr/>
          </p:nvSpPr>
          <p:spPr>
            <a:xfrm>
              <a:off x="571500" y="1524000"/>
              <a:ext cx="3714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What is an ATS?</a:t>
              </a:r>
              <a:endParaRPr b="1" sz="2400">
                <a:solidFill>
                  <a:srgbClr val="009E5E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An Applicant Tracking System (ATS) is software used by companies to automate and manage the hiring process.</a:t>
              </a:r>
              <a:endParaRPr sz="14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000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Candidates who don't match the algorithmic criteria get filtered out before a human ever sees their application.</a:t>
              </a:r>
              <a:endParaRPr sz="14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54" name="Google Shape;754;p43"/>
            <p:cNvSpPr/>
            <p:nvPr/>
          </p:nvSpPr>
          <p:spPr>
            <a:xfrm>
              <a:off x="4667250" y="133350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CA36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3"/>
            <p:cNvSpPr txBox="1"/>
            <p:nvPr/>
          </p:nvSpPr>
          <p:spPr>
            <a:xfrm>
              <a:off x="4857750" y="1524000"/>
              <a:ext cx="3714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The Bottom Line</a:t>
              </a:r>
              <a:endParaRPr b="1" sz="24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An ATS acts as a </a:t>
              </a:r>
              <a:r>
                <a:rPr b="1" lang="en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gatekeeper</a:t>
              </a:r>
              <a:r>
                <a:rPr b="0" lang="en" sz="18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— optimizing your resume for it isn't optional, it's essential.</a:t>
              </a:r>
              <a:endParaRPr b="0" sz="18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sp>
        <p:nvSpPr>
          <p:cNvPr id="756" name="Google Shape;756;p4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ean, high-quality photograph of a minimalist workspace with a laptop showing lines of code, a notebook, and a small plant, in a warm, bright setting." id="762" name="Google Shape;762;p44"/>
          <p:cNvPicPr preferRelativeResize="0"/>
          <p:nvPr/>
        </p:nvPicPr>
        <p:blipFill rotWithShape="1">
          <a:blip r:embed="rId3">
            <a:alphaModFix/>
          </a:blip>
          <a:srcRect b="7505" l="0" r="0" t="7497"/>
          <a:stretch/>
        </p:blipFill>
        <p:spPr>
          <a:xfrm>
            <a:off x="5905500" y="1143000"/>
            <a:ext cx="2857500" cy="3238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763" name="Google Shape;763;p44"/>
          <p:cNvSpPr txBox="1"/>
          <p:nvPr>
            <p:ph type="title"/>
          </p:nvPr>
        </p:nvSpPr>
        <p:spPr>
          <a:xfrm>
            <a:off x="381000" y="285750"/>
            <a:ext cx="838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0">
                <a:solidFill>
                  <a:srgbClr val="CA3619"/>
                </a:solidFill>
              </a:rPr>
              <a:t>Tools</a:t>
            </a:r>
            <a:r>
              <a:rPr b="0" lang="en" sz="612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 &amp; </a:t>
            </a:r>
            <a:r>
              <a:rPr lang="en" sz="6120">
                <a:solidFill>
                  <a:srgbClr val="CA3619"/>
                </a:solidFill>
              </a:rPr>
              <a:t>Setup</a:t>
            </a:r>
            <a:endParaRPr b="0" sz="612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6851575" y="4593675"/>
            <a:ext cx="2000100" cy="400200"/>
          </a:xfrm>
          <a:prstGeom prst="roundRect">
            <a:avLst>
              <a:gd fmla="val 16666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009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With AI</a:t>
            </a:r>
            <a:endParaRPr sz="111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765" name="Google Shape;765;p44"/>
          <p:cNvGrpSpPr/>
          <p:nvPr/>
        </p:nvGrpSpPr>
        <p:grpSpPr>
          <a:xfrm>
            <a:off x="381000" y="1143000"/>
            <a:ext cx="5143500" cy="3048150"/>
            <a:chOff x="381000" y="1143000"/>
            <a:chExt cx="5143500" cy="3048150"/>
          </a:xfrm>
        </p:grpSpPr>
        <p:sp>
          <p:nvSpPr>
            <p:cNvPr id="766" name="Google Shape;766;p44"/>
            <p:cNvSpPr txBox="1"/>
            <p:nvPr/>
          </p:nvSpPr>
          <p:spPr>
            <a:xfrm>
              <a:off x="381000" y="1143000"/>
              <a:ext cx="2476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9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AntiGravity</a:t>
              </a:r>
              <a:endParaRPr b="1" sz="1800">
                <a:solidFill>
                  <a:srgbClr val="009E5E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Cloud-based AI development environment for rapid prototyping and deployment.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67" name="Google Shape;767;p44"/>
            <p:cNvSpPr txBox="1"/>
            <p:nvPr/>
          </p:nvSpPr>
          <p:spPr>
            <a:xfrm>
              <a:off x="3048000" y="1143000"/>
              <a:ext cx="2476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B1C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1C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Evironment Setup</a:t>
              </a:r>
              <a:endParaRPr b="1" sz="1800">
                <a:solidFill>
                  <a:srgbClr val="3B1CB5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Primary workspace where developers write, test, and debug code using AI assistance.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68" name="Google Shape;768;p44"/>
            <p:cNvSpPr txBox="1"/>
            <p:nvPr/>
          </p:nvSpPr>
          <p:spPr>
            <a:xfrm>
              <a:off x="381000" y="2762250"/>
              <a:ext cx="2476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CA36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CA361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Speckit</a:t>
              </a:r>
              <a:endParaRPr b="1" sz="1800">
                <a:solidFill>
                  <a:srgbClr val="CA3619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An open source toolkit that allows you to focus on product scenarios instead of vibe coding every piece from scratch.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69" name="Google Shape;769;p44"/>
            <p:cNvSpPr txBox="1"/>
            <p:nvPr/>
          </p:nvSpPr>
          <p:spPr>
            <a:xfrm>
              <a:off x="3048000" y="2762250"/>
              <a:ext cx="2476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2A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2AB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Git &amp; Github</a:t>
              </a:r>
              <a:endParaRPr b="1" sz="1800">
                <a:solidFill>
                  <a:srgbClr val="F2AB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Platform for collaborative coding and managing repository context for AI agents.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5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75" name="Google Shape;775;p45"/>
          <p:cNvGrpSpPr/>
          <p:nvPr/>
        </p:nvGrpSpPr>
        <p:grpSpPr>
          <a:xfrm>
            <a:off x="381000" y="1333500"/>
            <a:ext cx="8382150" cy="2857500"/>
            <a:chOff x="381000" y="1333500"/>
            <a:chExt cx="8382150" cy="2857500"/>
          </a:xfrm>
        </p:grpSpPr>
        <p:sp>
          <p:nvSpPr>
            <p:cNvPr id="776" name="Google Shape;776;p45"/>
            <p:cNvSpPr/>
            <p:nvPr/>
          </p:nvSpPr>
          <p:spPr>
            <a:xfrm>
              <a:off x="381000" y="1333500"/>
              <a:ext cx="40959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9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5"/>
            <p:cNvSpPr txBox="1"/>
            <p:nvPr/>
          </p:nvSpPr>
          <p:spPr>
            <a:xfrm>
              <a:off x="571500" y="142875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</a:t>
              </a: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Get API Key</a:t>
              </a:r>
              <a:endParaRPr b="1" sz="2400">
                <a:solidFill>
                  <a:srgbClr val="009E5E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Log in to Google AI Studio and navigate to the 'Get API key' section to generate your unique credentials.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4667250" y="1333500"/>
              <a:ext cx="40959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B1C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5"/>
            <p:cNvSpPr txBox="1"/>
            <p:nvPr/>
          </p:nvSpPr>
          <p:spPr>
            <a:xfrm>
              <a:off x="4857750" y="142875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3B1C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</a:t>
              </a: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Launch Antigravity</a:t>
              </a:r>
              <a:endParaRPr b="1" sz="2400">
                <a:solidFill>
                  <a:srgbClr val="3B1CB5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Open Google Antigravity IDE</a:t>
              </a: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80" name="Google Shape;780;p45"/>
            <p:cNvSpPr/>
            <p:nvPr/>
          </p:nvSpPr>
          <p:spPr>
            <a:xfrm>
              <a:off x="381000" y="2857500"/>
              <a:ext cx="40959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CA36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5"/>
            <p:cNvSpPr txBox="1"/>
            <p:nvPr/>
          </p:nvSpPr>
          <p:spPr>
            <a:xfrm>
              <a:off x="571500" y="295275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CA361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</a:t>
              </a: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Configure Keys</a:t>
              </a:r>
              <a:endParaRPr b="1" sz="2400">
                <a:solidFill>
                  <a:srgbClr val="CA3619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Add your Google key to your environment variables.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4667250" y="2857500"/>
              <a:ext cx="40959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2A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5"/>
            <p:cNvSpPr txBox="1"/>
            <p:nvPr/>
          </p:nvSpPr>
          <p:spPr>
            <a:xfrm>
              <a:off x="4857750" y="295275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2AB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</a:t>
              </a: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Verify Link</a:t>
              </a:r>
              <a:endParaRPr b="1" sz="2400">
                <a:solidFill>
                  <a:srgbClr val="F2AB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Ensure your IDE agents share the repository context to plan, execute, and verify complex tasks.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sp>
        <p:nvSpPr>
          <p:cNvPr id="784" name="Google Shape;784;p45"/>
          <p:cNvSpPr txBox="1"/>
          <p:nvPr>
            <p:ph type="title"/>
          </p:nvPr>
        </p:nvSpPr>
        <p:spPr>
          <a:xfrm>
            <a:off x="381000" y="285750"/>
            <a:ext cx="838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12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Setup &amp; Integration</a:t>
            </a:r>
            <a:endParaRPr b="0" sz="612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85" name="Google Shape;785;p45"/>
          <p:cNvSpPr/>
          <p:nvPr/>
        </p:nvSpPr>
        <p:spPr>
          <a:xfrm>
            <a:off x="6877050" y="4381500"/>
            <a:ext cx="2000100" cy="400200"/>
          </a:xfrm>
          <a:prstGeom prst="roundRect">
            <a:avLst>
              <a:gd fmla="val 16666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009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With AI</a:t>
            </a:r>
            <a:endParaRPr sz="111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3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6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The Rise of SDD</a:t>
            </a:r>
            <a:endParaRPr sz="480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790" name="Google Shape;790;p46"/>
          <p:cNvGrpSpPr/>
          <p:nvPr/>
        </p:nvGrpSpPr>
        <p:grpSpPr>
          <a:xfrm>
            <a:off x="381000" y="1143000"/>
            <a:ext cx="8382000" cy="666900"/>
            <a:chOff x="381000" y="1143000"/>
            <a:chExt cx="8382000" cy="666900"/>
          </a:xfrm>
        </p:grpSpPr>
        <p:sp>
          <p:nvSpPr>
            <p:cNvPr id="791" name="Google Shape;791;p46"/>
            <p:cNvSpPr/>
            <p:nvPr/>
          </p:nvSpPr>
          <p:spPr>
            <a:xfrm>
              <a:off x="381000" y="1143000"/>
              <a:ext cx="8382000" cy="666900"/>
            </a:xfrm>
            <a:prstGeom prst="roundRect">
              <a:avLst>
                <a:gd fmla="val 17142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CA36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6"/>
            <p:cNvSpPr txBox="1"/>
            <p:nvPr/>
          </p:nvSpPr>
          <p:spPr>
            <a:xfrm>
              <a:off x="571500" y="119062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CA361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Definition:</a:t>
              </a: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A paradigm shift where the "Spec" (Specification) becomes the primary source of truth for both humans and AI.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793" name="Google Shape;793;p46"/>
          <p:cNvGrpSpPr/>
          <p:nvPr/>
        </p:nvGrpSpPr>
        <p:grpSpPr>
          <a:xfrm>
            <a:off x="381000" y="2000250"/>
            <a:ext cx="2619300" cy="2190900"/>
            <a:chOff x="381000" y="2000250"/>
            <a:chExt cx="2619300" cy="2190900"/>
          </a:xfrm>
        </p:grpSpPr>
        <p:sp>
          <p:nvSpPr>
            <p:cNvPr id="794" name="Google Shape;794;p46"/>
            <p:cNvSpPr/>
            <p:nvPr/>
          </p:nvSpPr>
          <p:spPr>
            <a:xfrm>
              <a:off x="381000" y="2000250"/>
              <a:ext cx="2619300" cy="2190900"/>
            </a:xfrm>
            <a:prstGeom prst="roundRect">
              <a:avLst>
                <a:gd fmla="val 521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9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6"/>
            <p:cNvSpPr txBox="1"/>
            <p:nvPr/>
          </p:nvSpPr>
          <p:spPr>
            <a:xfrm>
              <a:off x="571500" y="2190750"/>
              <a:ext cx="2238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 1</a:t>
              </a:r>
              <a:endParaRPr b="1" sz="1800">
                <a:solidFill>
                  <a:srgbClr val="009E5E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IBM Plex Mono"/>
                  <a:ea typeface="IBM Plex Mono"/>
                  <a:cs typeface="IBM Plex Mono"/>
                  <a:sym typeface="IBM Plex Mono"/>
                </a:rPr>
                <a:t>Spec-First</a:t>
              </a:r>
              <a:endParaRPr b="1" sz="1800"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Writing a spec before coding for a specific task; high human involvement in transition.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796" name="Google Shape;796;p46"/>
          <p:cNvGrpSpPr/>
          <p:nvPr/>
        </p:nvGrpSpPr>
        <p:grpSpPr>
          <a:xfrm>
            <a:off x="3262313" y="2000250"/>
            <a:ext cx="2619300" cy="2190900"/>
            <a:chOff x="3262313" y="2000250"/>
            <a:chExt cx="2619300" cy="2190900"/>
          </a:xfrm>
        </p:grpSpPr>
        <p:sp>
          <p:nvSpPr>
            <p:cNvPr id="797" name="Google Shape;797;p46"/>
            <p:cNvSpPr/>
            <p:nvPr/>
          </p:nvSpPr>
          <p:spPr>
            <a:xfrm>
              <a:off x="3262313" y="2000250"/>
              <a:ext cx="2619300" cy="2190900"/>
            </a:xfrm>
            <a:prstGeom prst="roundRect">
              <a:avLst>
                <a:gd fmla="val 521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B1C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6"/>
            <p:cNvSpPr txBox="1"/>
            <p:nvPr/>
          </p:nvSpPr>
          <p:spPr>
            <a:xfrm>
              <a:off x="3452813" y="2190750"/>
              <a:ext cx="2238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1C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 2</a:t>
              </a:r>
              <a:endParaRPr b="1" sz="1800">
                <a:solidFill>
                  <a:srgbClr val="3B1CB5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IBM Plex Mono"/>
                  <a:ea typeface="IBM Plex Mono"/>
                  <a:cs typeface="IBM Plex Mono"/>
                  <a:sym typeface="IBM Plex Mono"/>
                </a:rPr>
                <a:t>Spec-Anchored</a:t>
              </a:r>
              <a:endParaRPr b="1" sz="1800"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Maintaining the spec post-task to guide the code's long-term evolution.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799" name="Google Shape;799;p46"/>
          <p:cNvGrpSpPr/>
          <p:nvPr/>
        </p:nvGrpSpPr>
        <p:grpSpPr>
          <a:xfrm>
            <a:off x="6143625" y="2000250"/>
            <a:ext cx="2619300" cy="2190900"/>
            <a:chOff x="6143625" y="2000250"/>
            <a:chExt cx="2619300" cy="2190900"/>
          </a:xfrm>
        </p:grpSpPr>
        <p:sp>
          <p:nvSpPr>
            <p:cNvPr id="800" name="Google Shape;800;p46"/>
            <p:cNvSpPr/>
            <p:nvPr/>
          </p:nvSpPr>
          <p:spPr>
            <a:xfrm>
              <a:off x="6143625" y="2000250"/>
              <a:ext cx="2619300" cy="2190900"/>
            </a:xfrm>
            <a:prstGeom prst="roundRect">
              <a:avLst>
                <a:gd fmla="val 521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F2A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6"/>
            <p:cNvSpPr txBox="1"/>
            <p:nvPr/>
          </p:nvSpPr>
          <p:spPr>
            <a:xfrm>
              <a:off x="6334125" y="2190750"/>
              <a:ext cx="2238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2AB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 3</a:t>
              </a:r>
              <a:endParaRPr b="1" sz="1800">
                <a:solidFill>
                  <a:srgbClr val="F2AB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IBM Plex Mono"/>
                  <a:ea typeface="IBM Plex Mono"/>
                  <a:cs typeface="IBM Plex Mono"/>
                  <a:sym typeface="IBM Plex Mono"/>
                </a:rPr>
                <a:t>Spec-as-Source</a:t>
              </a:r>
              <a:endParaRPr b="1" sz="1800"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The ultimate maturity where humans edit the spec, and AI handles all code generation.</a:t>
              </a:r>
              <a:endParaRPr b="0"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sp>
        <p:nvSpPr>
          <p:cNvPr id="802" name="Google Shape;802;p46"/>
          <p:cNvSpPr/>
          <p:nvPr/>
        </p:nvSpPr>
        <p:spPr>
          <a:xfrm>
            <a:off x="6877050" y="4381500"/>
            <a:ext cx="2000100" cy="400200"/>
          </a:xfrm>
          <a:prstGeom prst="roundRect">
            <a:avLst>
              <a:gd fmla="val 16666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009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With AI</a:t>
            </a:r>
            <a:endParaRPr sz="111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07" name="Google Shape;807;p47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1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Maximizing Google Antigravity</a:t>
            </a:r>
            <a:endParaRPr sz="481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808" name="Google Shape;808;p47"/>
          <p:cNvGrpSpPr/>
          <p:nvPr/>
        </p:nvGrpSpPr>
        <p:grpSpPr>
          <a:xfrm>
            <a:off x="371475" y="1228725"/>
            <a:ext cx="2590800" cy="3257700"/>
            <a:chOff x="-9525" y="-9525"/>
            <a:chExt cx="2590800" cy="3257700"/>
          </a:xfrm>
        </p:grpSpPr>
        <p:pic>
          <p:nvPicPr>
            <p:cNvPr id="809" name="Google Shape;80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25908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47"/>
            <p:cNvSpPr txBox="1"/>
            <p:nvPr/>
          </p:nvSpPr>
          <p:spPr>
            <a:xfrm>
              <a:off x="190500" y="190500"/>
              <a:ext cx="21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  <a:endParaRPr b="1" sz="2800">
                <a:solidFill>
                  <a:srgbClr val="009E5E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Autonomous Planning</a:t>
              </a:r>
              <a:endParaRPr b="1" sz="18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Leverage agents to parse changelogs and design phased implementation plans. Antigravity doesn't just code; it strategies the "Spec-First" approach before a single line is written.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811" name="Google Shape;811;p47"/>
          <p:cNvGrpSpPr/>
          <p:nvPr/>
        </p:nvGrpSpPr>
        <p:grpSpPr>
          <a:xfrm>
            <a:off x="3276600" y="1228725"/>
            <a:ext cx="2590800" cy="3257700"/>
            <a:chOff x="-9525" y="-9525"/>
            <a:chExt cx="2590800" cy="3257700"/>
          </a:xfrm>
        </p:grpSpPr>
        <p:pic>
          <p:nvPicPr>
            <p:cNvPr id="812" name="Google Shape;812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5908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47"/>
            <p:cNvSpPr txBox="1"/>
            <p:nvPr/>
          </p:nvSpPr>
          <p:spPr>
            <a:xfrm>
              <a:off x="190500" y="190500"/>
              <a:ext cx="21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B1C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  <a:endParaRPr b="1" sz="2800">
                <a:solidFill>
                  <a:srgbClr val="3B1CB5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Interactive Walkthroughs</a:t>
              </a:r>
              <a:endParaRPr b="1" sz="18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Follow real-time executions where agents fix deprecations and update frameworks. Experience the end-to-end flow from planning to verification in under 2 minutes.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814" name="Google Shape;814;p47"/>
          <p:cNvGrpSpPr/>
          <p:nvPr/>
        </p:nvGrpSpPr>
        <p:grpSpPr>
          <a:xfrm>
            <a:off x="6181725" y="1228725"/>
            <a:ext cx="2590800" cy="3257700"/>
            <a:chOff x="-9525" y="-9525"/>
            <a:chExt cx="2590800" cy="3257700"/>
          </a:xfrm>
        </p:grpSpPr>
        <p:pic>
          <p:nvPicPr>
            <p:cNvPr id="815" name="Google Shape;81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" y="-9525"/>
              <a:ext cx="25908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47"/>
            <p:cNvSpPr txBox="1"/>
            <p:nvPr/>
          </p:nvSpPr>
          <p:spPr>
            <a:xfrm>
              <a:off x="190500" y="190500"/>
              <a:ext cx="21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2AB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  <a:endParaRPr b="1" sz="2800">
                <a:solidFill>
                  <a:srgbClr val="F2AB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Advanced Tool Calling</a:t>
              </a:r>
              <a:endParaRPr b="1" sz="18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Connect agents to your entire stack. Use the MCP Toolbox to "chat" with databases like PostgreSQL or wire up backends directly within the IDE without losing your flow state.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sp>
        <p:nvSpPr>
          <p:cNvPr id="817" name="Google Shape;817;p47"/>
          <p:cNvSpPr/>
          <p:nvPr/>
        </p:nvSpPr>
        <p:spPr>
          <a:xfrm>
            <a:off x="6877050" y="4667400"/>
            <a:ext cx="2000100" cy="400200"/>
          </a:xfrm>
          <a:prstGeom prst="roundRect">
            <a:avLst>
              <a:gd fmla="val 16666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009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With AI</a:t>
            </a:r>
            <a:endParaRPr sz="111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3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8"/>
          <p:cNvSpPr txBox="1"/>
          <p:nvPr/>
        </p:nvSpPr>
        <p:spPr>
          <a:xfrm>
            <a:off x="381000" y="28575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Let's Connect</a:t>
            </a:r>
            <a:endParaRPr sz="610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822" name="Google Shape;822;p48"/>
          <p:cNvGrpSpPr/>
          <p:nvPr/>
        </p:nvGrpSpPr>
        <p:grpSpPr>
          <a:xfrm>
            <a:off x="371475" y="1419225"/>
            <a:ext cx="4114800" cy="1352700"/>
            <a:chOff x="371475" y="1419225"/>
            <a:chExt cx="4114800" cy="1352700"/>
          </a:xfrm>
        </p:grpSpPr>
        <p:pic>
          <p:nvPicPr>
            <p:cNvPr id="823" name="Google Shape;823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1475" y="1419225"/>
              <a:ext cx="4114800" cy="135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4" name="Google Shape;824;p48"/>
            <p:cNvSpPr txBox="1"/>
            <p:nvPr/>
          </p:nvSpPr>
          <p:spPr>
            <a:xfrm>
              <a:off x="571500" y="152400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9E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GitHub</a:t>
              </a:r>
              <a:endParaRPr b="1" sz="2400">
                <a:solidFill>
                  <a:srgbClr val="009E5E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github.com/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husseinmleng</a:t>
              </a:r>
              <a:endParaRPr b="0"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825" name="Google Shape;825;p48"/>
          <p:cNvGrpSpPr/>
          <p:nvPr/>
        </p:nvGrpSpPr>
        <p:grpSpPr>
          <a:xfrm>
            <a:off x="4657725" y="1419225"/>
            <a:ext cx="4114800" cy="1352700"/>
            <a:chOff x="4657725" y="1419225"/>
            <a:chExt cx="4114800" cy="1352700"/>
          </a:xfrm>
        </p:grpSpPr>
        <p:pic>
          <p:nvPicPr>
            <p:cNvPr id="826" name="Google Shape;826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57725" y="1419225"/>
              <a:ext cx="4114800" cy="135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48"/>
            <p:cNvSpPr txBox="1"/>
            <p:nvPr/>
          </p:nvSpPr>
          <p:spPr>
            <a:xfrm>
              <a:off x="4857750" y="152400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3B1CB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LinkedIn</a:t>
              </a:r>
              <a:endParaRPr b="1" sz="2400">
                <a:solidFill>
                  <a:srgbClr val="3B1CB5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linkedin.com/in/</a:t>
              </a:r>
              <a:r>
                <a:rPr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husseinmleng</a:t>
              </a:r>
              <a:endParaRPr b="0"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828" name="Google Shape;828;p48"/>
          <p:cNvGrpSpPr/>
          <p:nvPr/>
        </p:nvGrpSpPr>
        <p:grpSpPr>
          <a:xfrm>
            <a:off x="371475" y="2943225"/>
            <a:ext cx="8401200" cy="1162200"/>
            <a:chOff x="371475" y="2943225"/>
            <a:chExt cx="8401200" cy="1162200"/>
          </a:xfrm>
        </p:grpSpPr>
        <p:pic>
          <p:nvPicPr>
            <p:cNvPr id="829" name="Google Shape;829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475" y="2943225"/>
              <a:ext cx="8401200" cy="116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p48"/>
            <p:cNvSpPr txBox="1"/>
            <p:nvPr/>
          </p:nvSpPr>
          <p:spPr>
            <a:xfrm>
              <a:off x="571500" y="304800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2AB0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Email</a:t>
              </a:r>
              <a:endParaRPr b="1" sz="2400">
                <a:solidFill>
                  <a:srgbClr val="F2AB0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hali12122015@gmail.com</a:t>
              </a:r>
              <a:endParaRPr b="0" sz="16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831" name="Google Shape;831;p48"/>
          <p:cNvGrpSpPr/>
          <p:nvPr/>
        </p:nvGrpSpPr>
        <p:grpSpPr>
          <a:xfrm>
            <a:off x="6867525" y="4371975"/>
            <a:ext cx="2019300" cy="419100"/>
            <a:chOff x="6867525" y="4371975"/>
            <a:chExt cx="2019300" cy="419100"/>
          </a:xfrm>
        </p:grpSpPr>
        <p:pic>
          <p:nvPicPr>
            <p:cNvPr id="832" name="Google Shape;832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67525" y="4371975"/>
              <a:ext cx="2019300" cy="4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3" name="Google Shape;833;p48"/>
            <p:cNvSpPr txBox="1"/>
            <p:nvPr/>
          </p:nvSpPr>
          <p:spPr>
            <a:xfrm>
              <a:off x="6877050" y="4381500"/>
              <a:ext cx="200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030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Build With AI</a:t>
              </a:r>
              <a:endParaRPr sz="110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9"/>
          <p:cNvSpPr txBox="1"/>
          <p:nvPr/>
        </p:nvSpPr>
        <p:spPr>
          <a:xfrm>
            <a:off x="3648300" y="1535350"/>
            <a:ext cx="2442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Q</a:t>
            </a:r>
            <a:r>
              <a:rPr lang="en" sz="8000">
                <a:solidFill>
                  <a:srgbClr val="CA3619"/>
                </a:solidFill>
                <a:latin typeface="Caveat"/>
                <a:ea typeface="Caveat"/>
                <a:cs typeface="Caveat"/>
                <a:sym typeface="Caveat"/>
              </a:rPr>
              <a:t> &amp; A</a:t>
            </a:r>
            <a:endParaRPr sz="8000">
              <a:solidFill>
                <a:srgbClr val="CA361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839" name="Google Shape;839;p49"/>
          <p:cNvSpPr/>
          <p:nvPr/>
        </p:nvSpPr>
        <p:spPr>
          <a:xfrm>
            <a:off x="6877050" y="4381500"/>
            <a:ext cx="2000100" cy="400200"/>
          </a:xfrm>
          <a:prstGeom prst="roundRect">
            <a:avLst>
              <a:gd fmla="val 16666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009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30303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Build With AI</a:t>
            </a:r>
            <a:endParaRPr sz="111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